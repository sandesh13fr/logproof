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a71dce949d4a7b" /><Relationship Type="http://schemas.openxmlformats.org/officeDocument/2006/relationships/extended-properties" Target="/docProps/app.xml" Id="R83eb9ba8242848d9" /><Relationship Type="http://schemas.openxmlformats.org/officeDocument/2006/relationships/officeDocument" Target="/ppt/presentation.xml" Id="Rf0356efe71ba454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bf363e820b4061"/>
  </p:sldMasterIdLst>
  <p:notesMasterIdLst>
    <p:notesMasterId xmlns:r="http://schemas.openxmlformats.org/officeDocument/2006/relationships" r:id="R98bbba0df36a4b87"/>
  </p:notesMasterIdLst>
  <p:sldIdLst>
    <p:sldId xmlns:r="http://schemas.openxmlformats.org/officeDocument/2006/relationships" id="256" r:id="R603ab149de7d4435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03bd27625e7417f" /><Relationship Type="http://schemas.openxmlformats.org/officeDocument/2006/relationships/slideMaster" Target="/ppt/slideMasters/slideMaster1.xml" Id="Re8bf363e820b4061" /><Relationship Type="http://schemas.openxmlformats.org/officeDocument/2006/relationships/notesMaster" Target="/ppt/notesMasters/notesMaster1.xml" Id="R98bbba0df36a4b87" /><Relationship Type="http://schemas.openxmlformats.org/officeDocument/2006/relationships/presProps" Target="/ppt/presProps.xml" Id="R9ecf5c65809a4a56" /><Relationship Type="http://schemas.openxmlformats.org/officeDocument/2006/relationships/tableStyles" Target="/ppt/tableStyles.xml" Id="R5672b40b36b2468f" /><Relationship Type="http://schemas.openxmlformats.org/officeDocument/2006/relationships/slide" Target="/ppt/slides/slide1.xml" Id="R603ab149de7d443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797dbeb656d42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f866b6b3794e3b" /><Relationship Type="http://schemas.openxmlformats.org/officeDocument/2006/relationships/notesMaster" Target="/ppt/notesMasters/notesMaster1.xml" Id="Rdb0dab54376640a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References and source notes</a:t>
            </a:r>
          </a:p>
          <a:p xmlns:a="http://schemas.openxmlformats.org/drawingml/2006/main">
            <a:r>
              <a:t>[1] Qin, H., Aghili, S., Li, J., &amp; Merlo, E. (2025). “Preprocessing is All You Need: Boosting the Performance of Log Parsers with a General Preprocessing.” IEEE International Conference on Software Analysis, Evolution and Reengineering (SANER), 310–320. https://doi.org/10.1109/SANER64311.2025.00036. Author preprint: https://arxiv.org/abs/2412.05254</a:t>
            </a:r>
          </a:p>
          <a:p xmlns:a="http://schemas.openxmlformats.org/drawingml/2006/main">
            <a:r>
              <a:t>[2] Zheng, Z., Lan, Z., Park, B.-H., &amp; Geist, A. (2009). “System Log Pre-processing to Improve Failure Prediction.” IEEE/IFIP International Conference on Dependable Systems &amp; Networks (DSN), 572–577. https://doi.org/10.1109/DSN.2009.5270289</a:t>
            </a:r>
          </a:p>
          <a:p xmlns:a="http://schemas.openxmlformats.org/drawingml/2006/main">
            <a:r>
              <a:t>[3] Marin-Castro, H. M., &amp; Tello-Leal, E. (2021). “Event Log Preprocessing for Process Mining: A Review.” Applied Sciences, 11(22), 10556. https://www.mdpi.com/2076-3417/11/22/10556</a:t>
            </a:r>
          </a:p>
          <a:p xmlns:a="http://schemas.openxmlformats.org/drawingml/2006/main">
            <a:r>
              <a:t>[4] Hussain, A., Asghar, S., &amp; Masood, A. (2010). “Web Usage Mining: A Survey on Preprocessing of Web Log File.” IEEE ICIET. https://doi.org/10.1109/ICIET.2010.5625730</a:t>
            </a:r>
          </a:p>
          <a:p xmlns:a="http://schemas.openxmlformats.org/drawingml/2006/main">
            <a:r>
              <a:t>[5] Dhanalakshmi, V., Ramani, R. G., &amp; Eswara Reddy, B. (2016). “The Research of Preprocessing and Pattern Discovery Techniques on Web Log Files.” IEEE IACC. https://doi.org/10.1109/IACC.2016.35</a:t>
            </a:r>
          </a:p>
          <a:p xmlns:a="http://schemas.openxmlformats.org/drawingml/2006/main">
            <a:r>
              <a:t>[6] Patil, S., &amp; Patil, A. (2013). “Preprocessing Web Logs for Web Intrusion Detection.” International Journal of Applied Information Systems, ICWAC issue. Publisher record: https://www.ijais.org/proceedings/icwac/number3/492-1332/ ; PDF: https://research.ijais.org/icwac/number3/icwac1332.pdf. The review notes incomplete publisher metadata and a conflicting placeholder year in the PDF.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Prototype claims on this slide are based on the LogProof README and current documented implementation. The digest checks stored bytes against the recorded digest; it does not authenticate the sender or establish original source identity. Only the firewall parser currently has replay/approval/rollback. LogProof’s schema is limited and is not a complete OCSF implementation. The prototype has no ministry-scale capacity proof.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077d54711342e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f4ff0ae49ad46c0" /><Relationship Type="http://schemas.openxmlformats.org/officeDocument/2006/relationships/slideLayout" Target="/ppt/slideLayouts/slideLayout1.xml" Id="R0f5324d05cf34f5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f5324d05cf34f5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75c4076e64ab0" /><Relationship Type="http://schemas.openxmlformats.org/officeDocument/2006/relationships/notesSlide" Target="/ppt/notesSlides/notesSlide1.xml" Id="Re6333037737244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">
            <a:extLst xmlns:a="http://schemas.openxmlformats.org/drawingml/2006/main">
              <a:ext uri="{FF2B5EF4-FFF2-40B4-BE49-F238E27FC236}">
                <a16:creationId xmlns:a16="http://schemas.microsoft.com/office/drawing/2014/main" id="{14535F43-6E76-4D3D-9294-13C47C2DA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13868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Prior art and LogProof’s bounded position</a:t>
            </a:r>
          </a:p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40DA354-A410-4544-8B18-51751E39E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1371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Research establishes log preprocessing as an active field. LogProof explores evidence linkage and parser-change assurance.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6BDE805-7EF3-4A43-8493-AC116068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386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4" name="header-accent">
            <a:extLst xmlns:a="http://schemas.openxmlformats.org/drawingml/2006/main">
              <a:ext uri="{FF2B5EF4-FFF2-40B4-BE49-F238E27FC236}">
                <a16:creationId xmlns:a16="http://schemas.microsoft.com/office/drawing/2014/main" id="{9B3DCD00-E596-4DC2-9547-83FEC7909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85925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</a:ln>
        </p:spPr>
      </p:sp>
      <p:sp>
        <p:nvSpPr>
          <p:cNvPr id="5" name="prior-label">
            <a:extLst xmlns:a="http://schemas.openxmlformats.org/drawingml/2006/main">
              <a:ext uri="{FF2B5EF4-FFF2-40B4-BE49-F238E27FC236}">
                <a16:creationId xmlns:a16="http://schemas.microsoft.com/office/drawing/2014/main" id="{9ACDDF4D-E516-499E-8DA5-76D3FA6E3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638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51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511E"/>
                </a:solidFill>
                <a:latin typeface="Arial"/>
                <a:ea typeface="Arial"/>
                <a:cs typeface="Arial"/>
              </a:rPr>
              <a:t>01  PRIOR ART</a:t>
            </a:r>
          </a:p>
        </p:txBody>
      </p:sp>
      <p:sp>
        <p:nvSpPr>
          <p:cNvPr id="6" name="closest-heading">
            <a:extLst xmlns:a="http://schemas.openxmlformats.org/drawingml/2006/main">
              <a:ext uri="{FF2B5EF4-FFF2-40B4-BE49-F238E27FC236}">
                <a16:creationId xmlns:a16="http://schemas.microsoft.com/office/drawing/2014/main" id="{F5C22B5F-B0C1-425A-BFE1-5EFD6DEF2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638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Qin et al. (2025)  [1]</a:t>
            </a:r>
          </a:p>
        </p:txBody>
      </p:sp>
      <p:sp>
        <p:nvSpPr>
          <p:cNvPr id="7" name="closest-copy">
            <a:extLst xmlns:a="http://schemas.openxmlformats.org/drawingml/2006/main">
              <a:ext uri="{FF2B5EF4-FFF2-40B4-BE49-F238E27FC236}">
                <a16:creationId xmlns:a16="http://schemas.microsoft.com/office/drawing/2014/main" id="{747D1027-4C9B-410A-A1A4-7C059E246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638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Closest overlap: general preprocessing can improve log-template parsing. The gains vary by parser and workload.</a:t>
            </a:r>
          </a:p>
        </p:txBody>
      </p:sp>
      <p:sp>
        <p:nvSpPr>
          <p:cNvPr id="8" name="prior-break">
            <a:extLst xmlns:a="http://schemas.openxmlformats.org/drawingml/2006/main">
              <a:ext uri="{FF2B5EF4-FFF2-40B4-BE49-F238E27FC236}">
                <a16:creationId xmlns:a16="http://schemas.microsoft.com/office/drawing/2014/main" id="{7830EEFC-6609-4BF8-984B-4B2E02DC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638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9" name="adjacent-heading">
            <a:extLst xmlns:a="http://schemas.openxmlformats.org/drawingml/2006/main">
              <a:ext uri="{FF2B5EF4-FFF2-40B4-BE49-F238E27FC236}">
                <a16:creationId xmlns:a16="http://schemas.microsoft.com/office/drawing/2014/main" id="{94805AD9-7B1D-4856-B869-1990BD95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Related work</a:t>
            </a:r>
          </a:p>
        </p:txBody>
      </p:sp>
      <p:sp>
        <p:nvSpPr>
          <p:cNvPr id="10" name="failure-work">
            <a:extLst xmlns:a="http://schemas.openxmlformats.org/drawingml/2006/main">
              <a:ext uri="{FF2B5EF4-FFF2-40B4-BE49-F238E27FC236}">
                <a16:creationId xmlns:a16="http://schemas.microsoft.com/office/drawing/2014/main" id="{900DD55B-9C21-42BF-8086-78A6C4699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247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5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5C9"/>
                </a:solidFill>
                <a:latin typeface="Arial"/>
                <a:ea typeface="Arial"/>
                <a:cs typeface="Arial"/>
              </a:rPr>
              <a:t>Failure prediction  [2]</a:t>
            </a:r>
          </a:p>
        </p:txBody>
      </p:sp>
      <p:sp>
        <p:nvSpPr>
          <p:cNvPr id="11" name="failure-copy">
            <a:extLst xmlns:a="http://schemas.openxmlformats.org/drawingml/2006/main">
              <a:ext uri="{FF2B5EF4-FFF2-40B4-BE49-F238E27FC236}">
                <a16:creationId xmlns:a16="http://schemas.microsoft.com/office/drawing/2014/main" id="{877240F8-8B67-4051-916F-9194CC94C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6381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Filtering can discard timing, location and count signals needed downstream.</a:t>
            </a:r>
          </a:p>
        </p:txBody>
      </p:sp>
      <p:sp>
        <p:nvSpPr>
          <p:cNvPr id="12" name="web-work">
            <a:extLst xmlns:a="http://schemas.openxmlformats.org/drawingml/2006/main">
              <a:ext uri="{FF2B5EF4-FFF2-40B4-BE49-F238E27FC236}">
                <a16:creationId xmlns:a16="http://schemas.microsoft.com/office/drawing/2014/main" id="{8672BCD2-9604-43C4-A199-35A4AD4ED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5334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4921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5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5C9"/>
                </a:solidFill>
                <a:latin typeface="Arial"/>
                <a:ea typeface="Arial"/>
                <a:cs typeface="Arial"/>
              </a:rPr>
              <a:t>Web logs and intrusion preparation  [4–6]</a:t>
            </a:r>
          </a:p>
        </p:txBody>
      </p:sp>
      <p:sp>
        <p:nvSpPr>
          <p:cNvPr id="13" name="web-copy">
            <a:extLst xmlns:a="http://schemas.openxmlformats.org/drawingml/2006/main">
              <a:ext uri="{FF2B5EF4-FFF2-40B4-BE49-F238E27FC236}">
                <a16:creationId xmlns:a16="http://schemas.microsoft.com/office/drawing/2014/main" id="{AC28D56D-20AD-4DCA-8D70-B457B83B3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638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Cleaning depends on the source and task; it does not establish universal cybersecurity parsing.</a:t>
            </a:r>
          </a:p>
        </p:txBody>
      </p:sp>
      <p:sp>
        <p:nvSpPr>
          <p:cNvPr id="14" name="process-work">
            <a:extLst xmlns:a="http://schemas.openxmlformats.org/drawingml/2006/main">
              <a:ext uri="{FF2B5EF4-FFF2-40B4-BE49-F238E27FC236}">
                <a16:creationId xmlns:a16="http://schemas.microsoft.com/office/drawing/2014/main" id="{05600687-1B69-4B76-8553-C0E7D4C14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103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95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475C9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75C9"/>
                </a:solidFill>
                <a:latin typeface="Arial"/>
                <a:ea typeface="Arial"/>
                <a:cs typeface="Arial"/>
              </a:rPr>
              <a:t>Process mining  [3]</a:t>
            </a:r>
          </a:p>
        </p:txBody>
      </p:sp>
      <p:sp>
        <p:nvSpPr>
          <p:cNvPr id="15" name="process-copy">
            <a:extLst xmlns:a="http://schemas.openxmlformats.org/drawingml/2006/main">
              <a:ext uri="{FF2B5EF4-FFF2-40B4-BE49-F238E27FC236}">
                <a16:creationId xmlns:a16="http://schemas.microsoft.com/office/drawing/2014/main" id="{0CE3B16B-4204-413C-83CA-5AB62B7E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34150"/>
            <a:ext cx="6381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93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Missing, duplicate, noisy and misordered events need explicit treatment.</a:t>
            </a:r>
          </a:p>
        </p:txBody>
      </p:sp>
      <p:sp>
        <p:nvSpPr>
          <p:cNvPr id="16" name="column-divider">
            <a:extLst xmlns:a="http://schemas.openxmlformats.org/drawingml/2006/main">
              <a:ext uri="{FF2B5EF4-FFF2-40B4-BE49-F238E27FC236}">
                <a16:creationId xmlns:a16="http://schemas.microsoft.com/office/drawing/2014/main" id="{1C47E582-37EA-4DA4-B5D0-5A7B8B95E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19050" cy="5114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17" name="prototype-label">
            <a:extLst xmlns:a="http://schemas.openxmlformats.org/drawingml/2006/main">
              <a:ext uri="{FF2B5EF4-FFF2-40B4-BE49-F238E27FC236}">
                <a16:creationId xmlns:a16="http://schemas.microsoft.com/office/drawing/2014/main" id="{393FBFD4-E5B6-465E-81DE-50D548C7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952625"/>
            <a:ext cx="6629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4511E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4511E"/>
                </a:solidFill>
                <a:latin typeface="Arial"/>
                <a:ea typeface="Arial"/>
                <a:cs typeface="Arial"/>
              </a:rPr>
              <a:t>02  LOGPROOF PROTOTYPE</a:t>
            </a:r>
          </a:p>
        </p:txBody>
      </p:sp>
      <p:sp>
        <p:nvSpPr>
          <p:cNvPr id="18" name="prototype-heading">
            <a:extLst xmlns:a="http://schemas.openxmlformats.org/drawingml/2006/main">
              <a:ext uri="{FF2B5EF4-FFF2-40B4-BE49-F238E27FC236}">
                <a16:creationId xmlns:a16="http://schemas.microsoft.com/office/drawing/2014/main" id="{9D4DEE7B-9796-46FF-9656-F09E90D1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343150"/>
            <a:ext cx="6629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73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What the demo shows</a:t>
            </a:r>
          </a:p>
        </p:txBody>
      </p:sp>
      <p:sp>
        <p:nvSpPr>
          <p:cNvPr id="19" name="raw-evidence-title">
            <a:extLst xmlns:a="http://schemas.openxmlformats.org/drawingml/2006/main">
              <a:ext uri="{FF2B5EF4-FFF2-40B4-BE49-F238E27FC236}">
                <a16:creationId xmlns:a16="http://schemas.microsoft.com/office/drawing/2014/main" id="{A9D0F9C0-0A11-44AA-97E0-752E7ED8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7180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Raw event evidence</a:t>
            </a:r>
          </a:p>
        </p:txBody>
      </p:sp>
      <p:sp>
        <p:nvSpPr>
          <p:cNvPr id="20" name="raw-evidence-copy">
            <a:extLst xmlns:a="http://schemas.openxmlformats.org/drawingml/2006/main">
              <a:ext uri="{FF2B5EF4-FFF2-40B4-BE49-F238E27FC236}">
                <a16:creationId xmlns:a16="http://schemas.microsoft.com/office/drawing/2014/main" id="{2C7E9279-5539-4E08-BB9F-5BED80AB5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314700"/>
            <a:ext cx="6381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032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Retains received event bytes and records a SHA-256 digest for stored-byte integrity checks.</a:t>
            </a:r>
          </a:p>
        </p:txBody>
      </p:sp>
      <p:sp>
        <p:nvSpPr>
          <p:cNvPr id="21" name="prototype-rule-1">
            <a:extLst xmlns:a="http://schemas.openxmlformats.org/drawingml/2006/main">
              <a:ext uri="{FF2B5EF4-FFF2-40B4-BE49-F238E27FC236}">
                <a16:creationId xmlns:a16="http://schemas.microsoft.com/office/drawing/2014/main" id="{F2AA3EF5-C80B-4258-A6C2-4F2A9106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98145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2" name="field-link-title">
            <a:extLst xmlns:a="http://schemas.openxmlformats.org/drawingml/2006/main">
              <a:ext uri="{FF2B5EF4-FFF2-40B4-BE49-F238E27FC236}">
                <a16:creationId xmlns:a16="http://schemas.microsoft.com/office/drawing/2014/main" id="{6B0E1582-8DFC-483B-AF7B-1E499AF41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15290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Field-level traceability</a:t>
            </a:r>
          </a:p>
        </p:txBody>
      </p:sp>
      <p:sp>
        <p:nvSpPr>
          <p:cNvPr id="23" name="field-link-copy">
            <a:extLst xmlns:a="http://schemas.openxmlformats.org/drawingml/2006/main">
              <a:ext uri="{FF2B5EF4-FFF2-40B4-BE49-F238E27FC236}">
                <a16:creationId xmlns:a16="http://schemas.microsoft.com/office/drawing/2014/main" id="{999CD97E-6566-40D9-8659-FA2B20F0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4958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717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Maps selected normalized fields back to source evidence for inspection.</a:t>
            </a:r>
          </a:p>
        </p:txBody>
      </p:sp>
      <p:sp>
        <p:nvSpPr>
          <p:cNvPr id="24" name="prototype-rule-2">
            <a:extLst xmlns:a="http://schemas.openxmlformats.org/drawingml/2006/main">
              <a:ext uri="{FF2B5EF4-FFF2-40B4-BE49-F238E27FC236}">
                <a16:creationId xmlns:a16="http://schemas.microsoft.com/office/drawing/2014/main" id="{0D599ADC-4FF9-4B0F-8D1C-DB048FB8B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4350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5" name="replay-title">
            <a:extLst xmlns:a="http://schemas.openxmlformats.org/drawingml/2006/main">
              <a:ext uri="{FF2B5EF4-FFF2-40B4-BE49-F238E27FC236}">
                <a16:creationId xmlns:a16="http://schemas.microsoft.com/office/drawing/2014/main" id="{B79B0841-8F4E-4E41-89BD-BC5ADB66E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31495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Parser change review</a:t>
            </a:r>
          </a:p>
        </p:txBody>
      </p:sp>
      <p:sp>
        <p:nvSpPr>
          <p:cNvPr id="26" name="replay-copy">
            <a:extLst xmlns:a="http://schemas.openxmlformats.org/drawingml/2006/main">
              <a:ext uri="{FF2B5EF4-FFF2-40B4-BE49-F238E27FC236}">
                <a16:creationId xmlns:a16="http://schemas.microsoft.com/office/drawing/2014/main" id="{9AABBB78-4014-419C-B50A-25D34A55E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65785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915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Replays candidate firewall parser versions and supports approval and rollback.</a:t>
            </a:r>
          </a:p>
        </p:txBody>
      </p:sp>
      <p:sp>
        <p:nvSpPr>
          <p:cNvPr id="27" name="prototype-rule-3">
            <a:extLst xmlns:a="http://schemas.openxmlformats.org/drawingml/2006/main">
              <a:ext uri="{FF2B5EF4-FFF2-40B4-BE49-F238E27FC236}">
                <a16:creationId xmlns:a16="http://schemas.microsoft.com/office/drawing/2014/main" id="{EFB4ABED-230B-488A-86DF-B53D132C2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305550"/>
            <a:ext cx="6629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8"/>
          </a:solidFill>
          <a:ln xmlns:a="http://schemas.openxmlformats.org/drawingml/2006/main" w="0">
            <a:noFill/>
          </a:ln>
        </p:spPr>
      </p:sp>
      <p:sp>
        <p:nvSpPr>
          <p:cNvPr id="28" name="boundary-title">
            <a:extLst xmlns:a="http://schemas.openxmlformats.org/drawingml/2006/main">
              <a:ext uri="{FF2B5EF4-FFF2-40B4-BE49-F238E27FC236}">
                <a16:creationId xmlns:a16="http://schemas.microsoft.com/office/drawing/2014/main" id="{DB293DB4-4F65-49A6-AB46-C463F082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477000"/>
            <a:ext cx="6629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1159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4511E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F4511E"/>
                </a:solidFill>
                <a:latin typeface="Arial"/>
                <a:ea typeface="Arial"/>
                <a:cs typeface="Arial"/>
              </a:rPr>
              <a:t>Prototype boundary</a:t>
            </a:r>
          </a:p>
        </p:txBody>
      </p:sp>
      <p:sp>
        <p:nvSpPr>
          <p:cNvPr id="29" name="boundary-copy">
            <a:extLst xmlns:a="http://schemas.openxmlformats.org/drawingml/2006/main">
              <a:ext uri="{FF2B5EF4-FFF2-40B4-BE49-F238E27FC236}">
                <a16:creationId xmlns:a16="http://schemas.microsoft.com/office/drawing/2014/main" id="{3B3910B9-46F7-4CDF-8D6B-F5168CAB7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819900"/>
            <a:ext cx="638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Selected parsers and a limited schema. No complete OCSF mapping or ministry-scale capacity proof.</a:t>
            </a:r>
          </a:p>
        </p:txBody>
      </p:sp>
      <p:sp>
        <p:nvSpPr>
          <p:cNvPr id="30" name="positioning-background">
            <a:extLst xmlns:a="http://schemas.openxmlformats.org/drawingml/2006/main">
              <a:ext uri="{FF2B5EF4-FFF2-40B4-BE49-F238E27FC236}">
                <a16:creationId xmlns:a16="http://schemas.microsoft.com/office/drawing/2014/main" id="{969C38BF-B597-4244-9F96-B5C144728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524750"/>
            <a:ext cx="13868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511E"/>
          </a:solidFill>
          <a:ln xmlns:a="http://schemas.openxmlformats.org/drawingml/2006/main" w="0">
            <a:noFill/>
          </a:ln>
        </p:spPr>
      </p:sp>
      <p:sp>
        <p:nvSpPr>
          <p:cNvPr id="31" name="positioning-label">
            <a:extLst xmlns:a="http://schemas.openxmlformats.org/drawingml/2006/main">
              <a:ext uri="{FF2B5EF4-FFF2-40B4-BE49-F238E27FC236}">
                <a16:creationId xmlns:a16="http://schemas.microsoft.com/office/drawing/2014/main" id="{05A93B57-87D5-4578-8C5B-36712B241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658100"/>
            <a:ext cx="1666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F4511E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4511E"/>
                </a:solidFill>
                <a:latin typeface="Arial"/>
                <a:ea typeface="Arial"/>
                <a:cs typeface="Arial"/>
              </a:rPr>
              <a:t>POSITIONING</a:t>
            </a:r>
          </a:p>
        </p:txBody>
      </p:sp>
      <p:sp>
        <p:nvSpPr>
          <p:cNvPr id="32" name="positioning-copy">
            <a:extLst xmlns:a="http://schemas.openxmlformats.org/drawingml/2006/main">
              <a:ext uri="{FF2B5EF4-FFF2-40B4-BE49-F238E27FC236}">
                <a16:creationId xmlns:a16="http://schemas.microsoft.com/office/drawing/2014/main" id="{219A4093-B1A1-4A04-85D1-148E6CCEC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7620000"/>
            <a:ext cx="122205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854"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5233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5233D"/>
                </a:solidFill>
                <a:latin typeface="Arial"/>
                <a:ea typeface="Arial"/>
                <a:cs typeface="Arial"/>
              </a:rPr>
              <a:t>LogProof tests an evidence and parser-change assurance workflow around selected parsers. It does not claim to invent general log preprocessing.</a:t>
            </a:r>
          </a:p>
        </p:txBody>
      </p:sp>
      <p:sp>
        <p:nvSpPr>
          <p:cNvPr id="33" name="references">
            <a:extLst xmlns:a="http://schemas.openxmlformats.org/drawingml/2006/main">
              <a:ext uri="{FF2B5EF4-FFF2-40B4-BE49-F238E27FC236}">
                <a16:creationId xmlns:a16="http://schemas.microsoft.com/office/drawing/2014/main" id="{FC5DA015-D1BF-47D6-A010-5B685341D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43875"/>
            <a:ext cx="138684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656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[1] Qin et al., SANER 2025     [2] Zheng et al., DSN 2009     [3] Marin-Castro &amp; Tello-Leal, Applied Sciences 2021</a:t>
            </a:r>
          </a:p>
          <a:p xmlns:a="http://schemas.openxmlformats.org/drawingml/2006/main">
            <a:pPr>
              <a:defRPr sz="1200" b="0">
                <a:solidFill>
                  <a:srgbClr val="56657B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56657B"/>
                </a:solidFill>
                <a:latin typeface="Arial"/>
                <a:ea typeface="Arial"/>
                <a:cs typeface="Arial"/>
              </a:rPr>
              <a:t>[4] Hussain et al., ICIET 2010     [5] Dhanalakshmi et al., IACC 2016     [6] Patil &amp; Patil, IJAIS 2013</a:t>
            </a:r>
          </a:p>
        </p:txBody>
      </p:sp>
    </p:spTree>
    <p:extLst>
      <p:ext uri="{BB962C8B-B14F-4D97-AF65-F5344CB8AC3E}">
        <p14:creationId xmlns:p14="http://schemas.microsoft.com/office/powerpoint/2010/main" val="10503583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2026-09-24T20:37:26.4900000Z</dcterms:created>
  <dcterms:modified xsi:type="dcterms:W3CDTF">2026-09-24T20:37:26.4900000Z</dcterms:modified>
</coreProperties>
</file>